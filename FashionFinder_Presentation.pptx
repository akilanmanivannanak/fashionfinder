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984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84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Apparel</c:v>
                </c:pt>
                <c:pt idx="1">
                  <c:v>Accessories</c:v>
                </c:pt>
                <c:pt idx="2">
                  <c:v>Footwear</c:v>
                </c:pt>
                <c:pt idx="3">
                  <c:v>Personal Care</c:v>
                </c:pt>
                <c:pt idx="4">
                  <c:v>Free Items</c:v>
                </c:pt>
                <c:pt idx="5">
                  <c:v>Sporting Goods</c:v>
                </c:pt>
                <c:pt idx="6">
                  <c:v>Home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21392</c:v>
                </c:pt>
                <c:pt idx="1">
                  <c:v>11274</c:v>
                </c:pt>
                <c:pt idx="2">
                  <c:v>9219</c:v>
                </c:pt>
                <c:pt idx="3">
                  <c:v>2403</c:v>
                </c:pt>
                <c:pt idx="4">
                  <c:v>105</c:v>
                </c:pt>
                <c:pt idx="5">
                  <c:v>25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BB-6545-A95D-CBD2ADB8A8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3548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17881C07-3A24-7183-247B-574583713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8068"/>
            <a:ext cx="12161520" cy="6803136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solidFill>
            <a:srgbClr val="0D1117">
              <a:alpha val="96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4FC3F7"/>
                </a:solidFill>
                <a:effectLst>
                  <a:glow rad="101600">
                    <a:srgbClr val="4FC3F7">
                      <a:alpha val="40000"/>
                    </a:srgbClr>
                  </a:glow>
                </a:effectLs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FashionFinder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302136"/>
            <a:ext cx="10972800" cy="548640"/>
          </a:xfrm>
          <a:prstGeom prst="rect">
            <a:avLst/>
          </a:prstGeom>
          <a:solidFill>
            <a:srgbClr val="0D1117">
              <a:alpha val="96114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Visual Search &amp; Image Retrieval System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97280" y="301752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20140" y="30336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</a:rPr>
              <a:t>ResNet18 Embeddings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63240" y="301752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81C7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31820" y="3030967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</a:rPr>
              <a:t>k-NN Graph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0" y="301752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48F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3017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</a:rPr>
              <a:t>FAISS ANN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995160" y="301752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CE9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95160" y="3017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</a:rPr>
              <a:t>Min-Heap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961120" y="301752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61120" y="3017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</a:rPr>
              <a:t>Hash Table Index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561282" y="6050101"/>
            <a:ext cx="4577378" cy="274320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50800" dir="5400000" algn="ctr" rotWithShape="0">
              <a:srgbClr val="000000"/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Akila Lourdes Miriyala Francis  ·  Akilan Manivannan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216153" y="6332757"/>
            <a:ext cx="3793414" cy="462311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Course  ·  LIU Brooklyn  ·  April 2026</a:t>
            </a:r>
          </a:p>
        </p:txBody>
      </p:sp>
      <p:sp>
        <p:nvSpPr>
          <p:cNvPr id="28" name="Shape 26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760720" cy="8686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73152" cy="8686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96926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Why visual search matters — Amazon, Pinterest, real-world impact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5760720" cy="8686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73152" cy="86868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965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1C78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197510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Dataset Overview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2860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44,419 fashion products, 7 categories, 47 colours — Kaggle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5760720" cy="8686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73152" cy="868680"/>
          </a:xfrm>
          <a:prstGeom prst="rect">
            <a:avLst/>
          </a:prstGeom>
          <a:solidFill>
            <a:srgbClr val="F48FB1"/>
          </a:solidFill>
          <a:ln w="12700">
            <a:solidFill>
              <a:srgbClr val="F48F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9718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8F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298094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2918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End-to-end pipeline from image input to ranked results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5760720" cy="8686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931920"/>
            <a:ext cx="73152" cy="86868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9776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E93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398678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Five Data Structures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2976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Hash Table, Nested Hash, k-NN Graph, Min-Heap, FAISS IVF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937760"/>
            <a:ext cx="5760720" cy="8686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4937760"/>
            <a:ext cx="73152" cy="8686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983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499262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ResNet18 Embedding Pipeline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53035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How images become 512-dim vectors for similarity search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09360" y="914400"/>
            <a:ext cx="5760720" cy="8686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09360" y="914400"/>
            <a:ext cx="73152" cy="8686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46520" y="9601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95160" y="96926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Three Retrieval Methods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95160" y="12801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Baseline vs k-NN Graph vs FAISS — live comparison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09360" y="1920240"/>
            <a:ext cx="5760720" cy="8686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09360" y="1920240"/>
            <a:ext cx="73152" cy="86868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46520" y="1965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1C78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95160" y="197510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Benchmark Results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95160" y="22860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Real latency and Recall@k numbers from 80-query benchmark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09360" y="2926080"/>
            <a:ext cx="5760720" cy="8686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309360" y="2926080"/>
            <a:ext cx="73152" cy="868680"/>
          </a:xfrm>
          <a:prstGeom prst="rect">
            <a:avLst/>
          </a:prstGeom>
          <a:solidFill>
            <a:srgbClr val="F48FB1"/>
          </a:solidFill>
          <a:ln w="12700">
            <a:solidFill>
              <a:srgbClr val="F48F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46520" y="29718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8F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995160" y="298094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Live Demo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95160" y="32918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Search, compare, color filter, graph visualization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09360" y="3931920"/>
            <a:ext cx="5760720" cy="8686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309360" y="3931920"/>
            <a:ext cx="73152" cy="86868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46520" y="39776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E93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995160" y="398678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Postmortem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995160" y="42976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5 issues, root causes, fixes, and lessons learned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09360" y="4937760"/>
            <a:ext cx="5760720" cy="8686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309360" y="4937760"/>
            <a:ext cx="73152" cy="8686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446520" y="4983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995160" y="499262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Team Contributions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995160" y="53035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Equal contributions from both team members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Visual Search?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5303520" cy="22860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8FB1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Text search fails for visual discovery.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Users can't always describe what they're looking for in words.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Fashion, furniture, and products are inherently visual.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Scanning 44,000+ items manually is impossible.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280160"/>
            <a:ext cx="2743200" cy="22860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C784"/>
                </a:solidFill>
              </a:rPr>
              <a:t>Real World Use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35040" y="1874520"/>
            <a:ext cx="164592" cy="164592"/>
          </a:xfrm>
          <a:prstGeom prst="ellipse">
            <a:avLst/>
          </a:prstGeom>
          <a:solidFill>
            <a:srgbClr val="81C7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63640" y="1828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Amazon — Find similar items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2276856"/>
            <a:ext cx="164592" cy="164592"/>
          </a:xfrm>
          <a:prstGeom prst="ellipse">
            <a:avLst/>
          </a:prstGeom>
          <a:solidFill>
            <a:srgbClr val="81C7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22311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Pinterest Visual Search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679192"/>
            <a:ext cx="164592" cy="164592"/>
          </a:xfrm>
          <a:prstGeom prst="ellipse">
            <a:avLst/>
          </a:prstGeom>
          <a:solidFill>
            <a:srgbClr val="81C7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26334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Google Lens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3081528"/>
            <a:ext cx="164592" cy="164592"/>
          </a:xfrm>
          <a:prstGeom prst="ellipse">
            <a:avLst/>
          </a:prstGeom>
          <a:solidFill>
            <a:srgbClr val="81C7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63640" y="30358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IKEA Style Match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78240" y="1280160"/>
            <a:ext cx="3017520" cy="22860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6112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700"/>
                </a:solidFill>
              </a:rPr>
              <a:t>Our Solution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1120" y="182880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FashionFinder: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Given any fashion image, instantly return the top-10 most visually similar products using ML embeddings and 5 data structures.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749040"/>
            <a:ext cx="274320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794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8F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2ms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65760" y="4297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FAISS Query Time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3749040"/>
            <a:ext cx="274320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0" y="3794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44,419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291840" y="4297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Products Searchable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3749040"/>
            <a:ext cx="274320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17920" y="3794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1C78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217920" y="4297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Recall Retained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44000" y="3749040"/>
            <a:ext cx="274320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144000" y="3794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~70%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9144000" y="4297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Search Space Cut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81C7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DATASET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Fashion Product Images Dataset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5176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1C78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44,419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Total Products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5176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0" y="17830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Master Categories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5176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8F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35040" y="17830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Unique Colours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869680" y="1234440"/>
            <a:ext cx="265176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69680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869680" y="17830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Embedding Dims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331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Category Breakdown</a:t>
            </a:r>
            <a:endParaRPr lang="en-US" sz="14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365760" y="2697480"/>
          <a:ext cx="5943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6492240" y="2331720"/>
            <a:ext cx="5303520" cy="35661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675120" y="2423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C784"/>
                </a:solidFill>
              </a:rPr>
              <a:t>Dataset Details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675120" y="2834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</a:rPr>
              <a:t>Source: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001000" y="2834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Kaggle — Fashion Product Images (Small)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675120" y="33101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</a:rPr>
              <a:t>Images: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001000" y="33101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JPEG, 60x80px thumbnails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675120" y="378561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</a:rPr>
              <a:t>Metadata: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001000" y="37856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styles.csv — name, category, colour, article type, season, year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675120" y="426110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</a:rPr>
              <a:t>Split: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001000" y="42611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No train/test split needed — inference only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675120" y="47365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</a:rPr>
              <a:t>Build Time: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001000" y="47365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~10 minutes CPU to embed all 44,419 images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675120" y="5212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</a:rPr>
              <a:t>Storage: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001000" y="5212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embeddings.npy: 86 MB, faiss.index: 87 MB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48FB1"/>
          </a:solidFill>
          <a:ln w="12700">
            <a:solidFill>
              <a:srgbClr val="F48F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F48F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SYSTEM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Pipeline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298448" cy="1508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5528" y="1298448"/>
            <a:ext cx="438912" cy="438912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5528" y="1298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Image Input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17627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Upload or Product ID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64208" y="1993392"/>
            <a:ext cx="146304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10512" y="1234440"/>
            <a:ext cx="1298448" cy="1508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40280" y="1298448"/>
            <a:ext cx="438912" cy="438912"/>
          </a:xfrm>
          <a:prstGeom prst="ellipse">
            <a:avLst/>
          </a:prstGeom>
          <a:solidFill>
            <a:srgbClr val="81C7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40280" y="1298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10512" y="182880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ResNet18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810512" y="217627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512-dim embedding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08960" y="1993392"/>
            <a:ext cx="146304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55264" y="1234440"/>
            <a:ext cx="1298448" cy="1508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85032" y="1298448"/>
            <a:ext cx="438912" cy="438912"/>
          </a:xfrm>
          <a:prstGeom prst="ellipse">
            <a:avLst/>
          </a:prstGeom>
          <a:solidFill>
            <a:srgbClr val="F48F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85032" y="1298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55264" y="182880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Hash Table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55264" y="217627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Category filter ~70%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53712" y="1993392"/>
            <a:ext cx="146304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0016" y="1234440"/>
            <a:ext cx="1298448" cy="1508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129784" y="1298448"/>
            <a:ext cx="438912" cy="438912"/>
          </a:xfrm>
          <a:prstGeom prst="ellipse">
            <a:avLst/>
          </a:prstGeom>
          <a:solidFill>
            <a:srgbClr val="CE9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29784" y="1298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00016" y="182880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Nested Hash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00016" y="217627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Color filter O(1)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998464" y="1993392"/>
            <a:ext cx="146304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44768" y="1234440"/>
            <a:ext cx="1298448" cy="1508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574536" y="1298448"/>
            <a:ext cx="438912" cy="438912"/>
          </a:xfrm>
          <a:prstGeom prst="ellipse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74536" y="1298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44768" y="182880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Retrieval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44768" y="217627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Baseline/Graph/FAISS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443216" y="1993392"/>
            <a:ext cx="146304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589520" y="1234440"/>
            <a:ext cx="1298448" cy="1508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019288" y="1298448"/>
            <a:ext cx="438912" cy="438912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019288" y="1298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589520" y="182880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Min-Heap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589520" y="217627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Top-k O(n log k)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887968" y="1993392"/>
            <a:ext cx="146304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034272" y="1234440"/>
            <a:ext cx="1298448" cy="1508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464040" y="1298448"/>
            <a:ext cx="438912" cy="438912"/>
          </a:xfrm>
          <a:prstGeom prst="ellipse">
            <a:avLst/>
          </a:prstGeom>
          <a:solidFill>
            <a:srgbClr val="81C7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464040" y="1298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034272" y="182880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FastAPI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034272" y="217627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8 Endpoints :8001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0332720" y="1993392"/>
            <a:ext cx="146304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0479024" y="1234440"/>
            <a:ext cx="1298448" cy="1508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0908792" y="1298448"/>
            <a:ext cx="438912" cy="438912"/>
          </a:xfrm>
          <a:prstGeom prst="ellipse">
            <a:avLst/>
          </a:prstGeom>
          <a:solidFill>
            <a:srgbClr val="F48F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0908792" y="1298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8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479024" y="182880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Streamlit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0479024" y="217627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3-Tab UI :8502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Three Retrieval Strategies — All Use the Same Data Pre-Filter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365760" y="3383280"/>
            <a:ext cx="3657600" cy="2560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65760" y="3383280"/>
            <a:ext cx="73152" cy="25603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30352" y="34747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</a:rPr>
              <a:t>Baseline (Brute-Force)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30352" y="38862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Exact cosine similarity scan over all category candidates using Min-Heap for O(n log k) top-k tracking. Recall@10 = 1.000 — ground truth.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30352" y="5394960"/>
            <a:ext cx="32918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30352" y="54132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8.63 ms median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251960" y="3383280"/>
            <a:ext cx="3657600" cy="2560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251960" y="3383280"/>
            <a:ext cx="73152" cy="256032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416552" y="34747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C784"/>
                </a:solidFill>
              </a:rPr>
              <a:t>k-NN Graph (AdjList)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416552" y="38862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Prebuilt adjacency list with 444,190 edges (k=10 per node). BFS traversal from entry point — scales to 1M+ products where brute-force breaks.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416552" y="5394960"/>
            <a:ext cx="32918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416552" y="54132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1C78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9.37 ms median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8138160" y="3383280"/>
            <a:ext cx="3657600" cy="2560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138160" y="3383280"/>
            <a:ext cx="73152" cy="2560320"/>
          </a:xfrm>
          <a:prstGeom prst="rect">
            <a:avLst/>
          </a:prstGeom>
          <a:solidFill>
            <a:srgbClr val="F48FB1"/>
          </a:solidFill>
          <a:ln w="12700">
            <a:solidFill>
              <a:srgbClr val="F48F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302752" y="34747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8FB1"/>
                </a:solidFill>
              </a:rPr>
              <a:t>FAISS IVF (ANN)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302752" y="38862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100 Voronoi clusters at build time. At query time only 10 nearest cells searched (nprobe=10). Sub-linear approximate nearest neighbor search.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8302752" y="5394960"/>
            <a:ext cx="329184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8302752" y="54132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F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1.79 ms median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F48FB1"/>
          </a:solidFill>
          <a:ln w="12700">
            <a:solidFill>
              <a:srgbClr val="F48F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CE9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DATA STRUCTURES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Data Structures in Action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14300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73152" cy="10058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124358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Hash Table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6276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FC3F7"/>
                </a:solidFill>
              </a:rPr>
              <a:t>hash_index.py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0" y="1261872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Maps masterCategory to list of product indices. O(1) lookup. Reduces search space by ~70% before any similarity is computed.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326880" y="1234440"/>
            <a:ext cx="2286000" cy="38404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26880" y="1252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</a:rPr>
              <a:t>O(1) lookup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326880" y="16824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~70% space reduction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114300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73152" cy="100584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3317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1C78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234086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Nested Hash Table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27249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1C784"/>
                </a:solidFill>
              </a:rPr>
              <a:t>color_index.py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0" y="2359152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Two-level dictionary: category -&gt; color -&gt; [indices]. Combined category + color filtering in one O(1) chain lookup.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326880" y="2331720"/>
            <a:ext cx="2286000" cy="38404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326880" y="2350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</a:rPr>
              <a:t>O(1) lookup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26880" y="27797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47 colours x 7 cats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383280"/>
            <a:ext cx="114300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383280"/>
            <a:ext cx="73152" cy="1005840"/>
          </a:xfrm>
          <a:prstGeom prst="rect">
            <a:avLst/>
          </a:prstGeom>
          <a:solidFill>
            <a:srgbClr val="F48FB1"/>
          </a:solidFill>
          <a:ln w="12700">
            <a:solidFill>
              <a:srgbClr val="F48F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429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8F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7280" y="34381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k-NN Graph (AdjList)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38221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48FB1"/>
                </a:solidFill>
              </a:rPr>
              <a:t>knn_graph.py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40480" y="3456432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Each of 44,419 nodes connects to k=10 nearest neighbors (444,190 edges). BFS traversal follows edges instead of scanning all products.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326880" y="3429000"/>
            <a:ext cx="2286000" cy="38404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326880" y="34472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8FB1"/>
                </a:solidFill>
              </a:rPr>
              <a:t>O(log n) traversal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326880" y="38770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444,190 edges built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4480560"/>
            <a:ext cx="114300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65760" y="4480560"/>
            <a:ext cx="73152" cy="100584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45262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E93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097280" y="453542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Min-Heap / Priority Queue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97280" y="49194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E93D8"/>
                </a:solidFill>
              </a:rPr>
              <a:t>heap_ranker.py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40480" y="4553712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Tracks top-k best results during any scan or traversal. When new score beats worst item, it evicts and inserts. O(n log k) vs O(n log n) full sort.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326880" y="4526280"/>
            <a:ext cx="2286000" cy="38404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326880" y="45445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E93D8"/>
                </a:solidFill>
              </a:rPr>
              <a:t>O(n log k)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326880" y="49743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~4x fewer operations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5577840"/>
            <a:ext cx="114300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65760" y="5577840"/>
            <a:ext cx="73152" cy="10058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48640" y="56235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1097280" y="563270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FAISS IVF Index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97280" y="60167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D700"/>
                </a:solidFill>
              </a:rPr>
              <a:t>faiss_index.py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840480" y="5650992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Clusters all 512-dim embeddings into 100 Voronoi cells at build time. At query time only 10 nearest cells searched. Sub-linear ANN search.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326880" y="5623560"/>
            <a:ext cx="2286000" cy="38404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326880" y="56418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700"/>
                </a:solidFill>
              </a:rPr>
              <a:t>Sub-linear ANN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326880" y="60716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4.8x faster than exact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EMBEDDING PIPELINE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ResNet18 Visual Feature Extraction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691640" cy="1645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2688" y="1298448"/>
            <a:ext cx="749808" cy="749808"/>
          </a:xfrm>
          <a:prstGeom prst="ellipse">
            <a:avLst/>
          </a:prstGeom>
          <a:solidFill>
            <a:srgbClr val="4FC3F7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1298448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Input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Fashion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Product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Image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48840" y="18745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331720" y="1234440"/>
            <a:ext cx="1691640" cy="1645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07208" y="1298448"/>
            <a:ext cx="749808" cy="749808"/>
          </a:xfrm>
          <a:prstGeom prst="ellipse">
            <a:avLst/>
          </a:prstGeom>
          <a:solidFill>
            <a:srgbClr val="81C78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07208" y="1298448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Backbone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331720" y="21488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ResNet18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CNN Backbone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(ImageNet)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23360" y="18745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06240" y="1234440"/>
            <a:ext cx="1691640" cy="1645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81728" y="1298448"/>
            <a:ext cx="749808" cy="749808"/>
          </a:xfrm>
          <a:prstGeom prst="ellipse">
            <a:avLst/>
          </a:prstGeom>
          <a:solidFill>
            <a:srgbClr val="F48FB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81728" y="1298448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Modify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0" y="21488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Remove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Final FC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Layer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97880" y="18745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080760" y="1234440"/>
            <a:ext cx="1691640" cy="1645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56248" y="1298448"/>
            <a:ext cx="749808" cy="749808"/>
          </a:xfrm>
          <a:prstGeom prst="ellipse">
            <a:avLst/>
          </a:prstGeom>
          <a:solidFill>
            <a:srgbClr val="CE93D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56248" y="1298448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Extract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80760" y="21488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AvgPool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Output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512-dim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18745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955280" y="1234440"/>
            <a:ext cx="1691640" cy="1645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430768" y="1298448"/>
            <a:ext cx="749808" cy="749808"/>
          </a:xfrm>
          <a:prstGeom prst="ellipse">
            <a:avLst/>
          </a:prstGeom>
          <a:solidFill>
            <a:srgbClr val="FFD70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430768" y="1298448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Normalize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955280" y="21488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Normalize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Vector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46920" y="18745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829800" y="1234440"/>
            <a:ext cx="1691640" cy="1645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305288" y="1298448"/>
            <a:ext cx="749808" cy="749808"/>
          </a:xfrm>
          <a:prstGeom prst="ellipse">
            <a:avLst/>
          </a:prstGeom>
          <a:solidFill>
            <a:srgbClr val="4FC3F7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305288" y="1298448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Result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829800" y="21488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Cosine =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Dot Product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for free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108960"/>
            <a:ext cx="5303520" cy="22860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3200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00"/>
                </a:solidFill>
              </a:rPr>
              <a:t>Why L2 Normalization?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" y="365760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After normalization, all vectors have length 1.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Cosine similarity = dot product of two unit vectors.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This allows FAISS and the heap ranker to use fast matrix multiplication (embeddings @ query_vec) instead of computing expensive cosine formula each time.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43600" y="3108960"/>
            <a:ext cx="5852160" cy="28072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26480" y="3200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</a:rPr>
              <a:t>Key Facts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126480" y="3657600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</a:rPr>
              <a:t>Model: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360920" y="3657600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ResNet18 — pretrained on ImageNet 1M images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26480" y="4005072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</a:rPr>
              <a:t>Modification: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60920" y="4005072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Final FC classification layer removed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26480" y="4352544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</a:rPr>
              <a:t>Output: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60920" y="4352544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512-dimensional feature vector per image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26480" y="4700016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</a:rPr>
              <a:t>Build time: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60920" y="4700016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~10 minutes for all 44,419 images (CPU)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26480" y="504748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</a:rPr>
              <a:t>Storage: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360920" y="5047488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embeddings.npy — shape (44419, 512) = 86 MB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126480" y="5394960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</a:rPr>
              <a:t>Similarity: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60920" y="5394960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Dot product of L2-normalized vectors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RETRIEVAL METHODS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Methods — Same Query, Different Strategies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3749040" cy="3200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ss1_grap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261872"/>
            <a:ext cx="3602736" cy="2560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4526280"/>
            <a:ext cx="374904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454456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</a:rPr>
              <a:t>Graph (k-NN Traversal)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74320" y="47731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Latency: 59.26 ms   Recall: 0.894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251960" y="1188720"/>
            <a:ext cx="3749040" cy="3200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ss2_baselin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25112" y="1261872"/>
            <a:ext cx="3602736" cy="2560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251960" y="4526280"/>
            <a:ext cx="374904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251960" y="454456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</a:rPr>
              <a:t>Baseline (Brute-Force)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251960" y="47731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Latency: 80.16 ms   Recall: 1.000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229600" y="1188720"/>
            <a:ext cx="3749040" cy="3200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ss3_fais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02752" y="1261872"/>
            <a:ext cx="3602736" cy="25603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229600" y="4526280"/>
            <a:ext cx="3749040" cy="4572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8229600" y="454456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8FB1"/>
                </a:solidFill>
              </a:rPr>
              <a:t>FAISS (ANN Index)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229600" y="47731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Latency: 10.5 ms   Recall: 0.900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65760" y="5120640"/>
            <a:ext cx="11430000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548640" y="5166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All 3 methods return the same cricket jerseys — proving retrieval quality across strategies. FAISS is fastest at 10.5ms vs Baseline 80ms, with 90% recall overlap.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81C7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LIVE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Compare All 3 Methods + Image Upload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C784"/>
                </a:solidFill>
              </a:rPr>
              <a:t>Side-by-Side Comparison (Product 1163)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6858000" cy="4114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ss4_compa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912" y="1572768"/>
            <a:ext cx="67208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06640" y="11430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8FB1"/>
                </a:solidFill>
              </a:rPr>
              <a:t>Image Upload Search (Sports Shoe)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06640" y="1508760"/>
            <a:ext cx="4389120" cy="4114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ss5_uploa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79792" y="1572768"/>
            <a:ext cx="4242816" cy="3977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48FB1"/>
          </a:solidFill>
          <a:ln w="12700">
            <a:solidFill>
              <a:srgbClr val="F48F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F48F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COLOR FILTER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Nested Hash Table — Category + Color Filter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7498080" cy="4754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ss6_colo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912" y="1261872"/>
            <a:ext cx="7351776" cy="46085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46720" y="1188720"/>
            <a:ext cx="3749040" cy="21945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0" y="1280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FB1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0" y="169164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1. Category filter (Hash Table):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   hash_index['Apparel'] -&gt; 21,392 items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2. Color filter (Nested Hash Table):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   color_index['Apparel']['Navy Blue'] -&gt; smaller subset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3. Retrieval runs only on filtered subset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046720" y="3520440"/>
            <a:ext cx="3749040" cy="24231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8FB1"/>
                </a:solidFill>
              </a:rPr>
              <a:t>Result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0" y="3977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</a:rPr>
              <a:t>FAISS wins at 1.63ms vs Baseline 32.49ms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0" y="443484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Same top results across all 3 methods, proving the nested hash filter correctly narrows the search space without losing relevant items.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F48FB1"/>
          </a:solidFill>
          <a:ln w="12700">
            <a:solidFill>
              <a:srgbClr val="F48F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BENCHMARK 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Benchmark — 80 Queries, k=10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7315200" cy="4754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ss7_benchmar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912" y="1261872"/>
            <a:ext cx="7168896" cy="46085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63840" y="1188720"/>
            <a:ext cx="393192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46720" y="12618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FAISS Median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46720" y="157276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8F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0.75 ms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7863840" y="2697480"/>
            <a:ext cx="393192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046720" y="27706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Baseline Median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46720" y="308152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4.78 ms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7863840" y="4206240"/>
            <a:ext cx="39319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046720" y="4279392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Recall@k: Baseline 1.000 · Graph 0.895 · FAISS 0.894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863840" y="5257800"/>
            <a:ext cx="393192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046720" y="532180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700"/>
                </a:solidFill>
              </a:rPr>
              <a:t>FAISS is 6.4x faster than baseline with 89.4% recall retained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81C7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GRAPH VISUALIZATION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k-NN Similarity Graph — Product 1163, 2 Hops, 53 Nodes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7132320" cy="4754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ss8_graph_viz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912" y="1261872"/>
            <a:ext cx="6986016" cy="46085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80960" y="1188720"/>
            <a:ext cx="4114800" cy="4754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86384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C784"/>
                </a:solidFill>
              </a:rPr>
              <a:t>Top Connected Products (Depth 1)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63840" y="16916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949E"/>
                </a:solidFill>
              </a:rPr>
              <a:t>ID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549640" y="1691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949E"/>
                </a:solidFill>
              </a:rPr>
              <a:t>Product Name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155680" y="16916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949E"/>
                </a:solidFill>
              </a:rPr>
              <a:t>Score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790688" y="1993392"/>
            <a:ext cx="3895344" cy="402336"/>
          </a:xfrm>
          <a:prstGeom prst="rect">
            <a:avLst/>
          </a:prstGeom>
          <a:solidFill>
            <a:srgbClr val="1E2530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882128" y="202996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</a:rPr>
              <a:t>1164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567928" y="2029968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Nike Men Blue T20 Cricket Jersey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137392" y="202996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1C784"/>
                </a:solidFill>
              </a:rPr>
              <a:t>0.9124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790688" y="2468880"/>
            <a:ext cx="3895344" cy="40233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882128" y="250545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</a:rPr>
              <a:t>3313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567928" y="2505456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Mumbai Indians Men Premium Jersey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1137392" y="2505456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1C784"/>
                </a:solidFill>
              </a:rPr>
              <a:t>0.9088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790688" y="2944368"/>
            <a:ext cx="3895344" cy="402336"/>
          </a:xfrm>
          <a:prstGeom prst="rect">
            <a:avLst/>
          </a:prstGeom>
          <a:solidFill>
            <a:srgbClr val="1E2530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882128" y="298094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</a:rPr>
              <a:t>13892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567928" y="2980944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Nike Men Team India Special Ed.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137392" y="2980944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1C784"/>
                </a:solidFill>
              </a:rPr>
              <a:t>0.9051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790688" y="3419856"/>
            <a:ext cx="3895344" cy="40233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882128" y="345643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</a:rPr>
              <a:t>13891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567928" y="3456432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Nike Men Team India Blue Jersey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1137392" y="345643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1C784"/>
                </a:solidFill>
              </a:rPr>
              <a:t>0.8988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790688" y="3895344"/>
            <a:ext cx="3895344" cy="402336"/>
          </a:xfrm>
          <a:prstGeom prst="rect">
            <a:avLst/>
          </a:prstGeom>
          <a:solidFill>
            <a:srgbClr val="1E2530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882128" y="393192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</a:rPr>
              <a:t>3042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8567928" y="393192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Nike Blue Take Down Cricket Tshirts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1137392" y="393192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1C784"/>
                </a:solidFill>
              </a:rPr>
              <a:t>0.8985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790688" y="4370832"/>
            <a:ext cx="3895344" cy="40233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882128" y="440740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</a:rPr>
              <a:t>31444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8567928" y="4407408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Nike Men Football Blue Jersey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1137392" y="440740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1C784"/>
                </a:solidFill>
              </a:rPr>
              <a:t>0.8888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790688" y="4846320"/>
            <a:ext cx="3895344" cy="402336"/>
          </a:xfrm>
          <a:prstGeom prst="rect">
            <a:avLst/>
          </a:prstGeom>
          <a:solidFill>
            <a:srgbClr val="1E2530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7882128" y="488289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</a:rPr>
              <a:t>3732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8567928" y="4882896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Kochi Tuskers Practice Jersey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1137392" y="4882896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1C784"/>
                </a:solidFill>
              </a:rPr>
              <a:t>0.8852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90688" y="5321808"/>
            <a:ext cx="3895344" cy="40233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7882128" y="535838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</a:rPr>
              <a:t>12585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8567928" y="5358384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Tantra Unisex Printed Blue Tshirts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11137392" y="5358384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1C784"/>
                </a:solidFill>
              </a:rPr>
              <a:t>0.8805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API ENDPOINTS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FastAPI Backend — 8 Endpoints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943600" cy="4754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api_doc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912" y="1261872"/>
            <a:ext cx="5797296" cy="46085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92240" y="1188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Endpoint Reference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92240" y="1600200"/>
            <a:ext cx="5303520" cy="530352"/>
          </a:xfrm>
          <a:prstGeom prst="rect">
            <a:avLst/>
          </a:prstGeom>
          <a:solidFill>
            <a:srgbClr val="1E2530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65392" y="1691640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65392" y="16916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GET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178040" y="16459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178040" y="187452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System status, graph + FAISS loaded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492240" y="2212848"/>
            <a:ext cx="530352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565392" y="2304288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65392" y="23042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GET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178040" y="22585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/categories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178040" y="248716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Hash Table buckets with product counts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492240" y="2825496"/>
            <a:ext cx="5303520" cy="530352"/>
          </a:xfrm>
          <a:prstGeom prst="rect">
            <a:avLst/>
          </a:prstGeom>
          <a:solidFill>
            <a:srgbClr val="1E2530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565392" y="2916936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65392" y="2916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GET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178040" y="287121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/colors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178040" y="309981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Nested Hash Index colours per category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492240" y="3438144"/>
            <a:ext cx="530352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565392" y="3529584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81C7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565392" y="35295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POST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178040" y="34838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/search/upload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178040" y="371246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Upload image, get top-k similar products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6492240" y="4050792"/>
            <a:ext cx="5303520" cy="530352"/>
          </a:xfrm>
          <a:prstGeom prst="rect">
            <a:avLst/>
          </a:prstGeom>
          <a:solidFill>
            <a:srgbClr val="1E2530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565392" y="4142232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81C7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565392" y="41422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POST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178040" y="40965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/search/by_id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178040" y="432511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Search by product ID in dataset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492240" y="4663440"/>
            <a:ext cx="530352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6565392" y="4754880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565392" y="47548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GET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178040" y="47091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/image/{id}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7178040" y="493776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Serve product image file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6492240" y="5276088"/>
            <a:ext cx="5303520" cy="530352"/>
          </a:xfrm>
          <a:prstGeom prst="rect">
            <a:avLst/>
          </a:prstGeom>
          <a:solidFill>
            <a:srgbClr val="1E2530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565392" y="5367528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565392" y="5367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GET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178040" y="5321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/graph_neighbors/{id}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178040" y="555040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BFS graph traversal for visualization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6492240" y="5888736"/>
            <a:ext cx="5303520" cy="5303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6565392" y="5980176"/>
            <a:ext cx="548640" cy="237744"/>
          </a:xfrm>
          <a:prstGeom prst="roundRect">
            <a:avLst>
              <a:gd name="adj" fmla="val 15385"/>
            </a:avLst>
          </a:prstGeom>
          <a:solidFill>
            <a:srgbClr val="81C7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6565392" y="59801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</a:rPr>
              <a:t>POST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178040" y="59344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/benchmark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7178040" y="616305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Live 3-method benchmark over N queries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48FB1"/>
          </a:solidFill>
          <a:ln w="12700">
            <a:solidFill>
              <a:srgbClr val="F48F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F48F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POSTMORTEM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Broke and How We Fixed It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14300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73152" cy="1005840"/>
          </a:xfrm>
          <a:prstGeom prst="rect">
            <a:avLst/>
          </a:prstGeom>
          <a:solidFill>
            <a:srgbClr val="F48FB1"/>
          </a:solidFill>
          <a:ln w="12700">
            <a:solidFill>
              <a:srgbClr val="F48F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2435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8FB1"/>
                </a:solidFill>
              </a:rPr>
              <a:t>FAISS crashes on Mac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Cause: PyTorch and FAISS both load libomp.dylib — OpenMP conflict on Apple Silicon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37560" y="1325880"/>
            <a:ext cx="0" cy="73152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261872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Fix: Set KMP_DUPLICATE_LIB_OK=TRUE at uvicorn startup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26680" y="1325880"/>
            <a:ext cx="0" cy="73152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63840" y="12435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</a:rPr>
              <a:t>Lesson: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63840" y="153619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Check OpenMP conflicts when mixing PyTorch + FAISS on Mac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114300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73152" cy="100584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3408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E93D8"/>
                </a:solidFill>
              </a:rPr>
              <a:t>Compare all 3 times out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697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Cause: Three sequential API calls exceed the 30-second default request timeout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37560" y="2423160"/>
            <a:ext cx="0" cy="73152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0" y="2359152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Fix: Increased Streamlit request timeout to 120 seconds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26680" y="2423160"/>
            <a:ext cx="0" cy="73152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63840" y="23408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</a:rPr>
              <a:t>Lesson: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63840" y="263347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Set generous timeouts for multi-method endpoints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383280"/>
            <a:ext cx="114300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383280"/>
            <a:ext cx="73152" cy="10058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4381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Wrong API served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794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Cause: Two main.py in different project folders — uvicorn picked StreamLens instead of FashionFinder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37560" y="3520440"/>
            <a:ext cx="0" cy="73152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74720" y="3456432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Fix: Dedicated port 8001 per project, explicit working directory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726680" y="3520440"/>
            <a:ext cx="0" cy="73152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863840" y="34381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</a:rPr>
              <a:t>Lesson: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63840" y="37307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Always use explicit ports per project when running multiple APIs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4480560"/>
            <a:ext cx="114300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65760" y="4480560"/>
            <a:ext cx="73152" cy="10058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45354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</a:rPr>
              <a:t>Graph slower than baseline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892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Cause: At 44K products with hash pre-filter, brute-force over small bucket is faster than graph overhead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337560" y="4617720"/>
            <a:ext cx="0" cy="73152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74720" y="4553712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Fix: Documented honestly — graph wins at 1M+ products where full scan breaks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726680" y="4617720"/>
            <a:ext cx="0" cy="73152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863840" y="45354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</a:rPr>
              <a:t>Lesson: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863840" y="482803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Report real numbers. Do not tune results to look better than they are.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65760" y="5577840"/>
            <a:ext cx="114300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65760" y="5577840"/>
            <a:ext cx="73152" cy="100584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48640" y="56327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C784"/>
                </a:solidFill>
              </a:rPr>
              <a:t>GitHub large file warnings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5989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Cause: embeddings.npy (86MB) and faiss.index (87MB) exceed GitHub 50MB recommendation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337560" y="5715000"/>
            <a:ext cx="0" cy="73152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474720" y="5650992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Fix: Added to .gitignore, documented rebuild steps clearly in README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726680" y="5715000"/>
            <a:ext cx="0" cy="73152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863840" y="56327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</a:rPr>
              <a:t>Lesson: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863840" y="59253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Always gitignore large binary artifacts and document how to regenerate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F48FB1"/>
          </a:solidFill>
          <a:ln w="12700">
            <a:solidFill>
              <a:srgbClr val="F48F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CE9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TEAM CONTRIBUTIONS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Individual Contributions — Equal Weightage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5715000" cy="502920"/>
          </a:xfrm>
          <a:prstGeom prst="rect">
            <a:avLst/>
          </a:prstGeom>
          <a:solidFill>
            <a:srgbClr val="1A233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73152" cy="502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2344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</a:rPr>
              <a:t>Akilan Manivannan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50876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</a:rPr>
              <a:t>github.com/AkilanManivannanak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5715000" cy="621792"/>
          </a:xfrm>
          <a:prstGeom prst="rect">
            <a:avLst/>
          </a:prstGeom>
          <a:solidFill>
            <a:srgbClr val="1A233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18836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C3F7"/>
                </a:solidFill>
              </a:rPr>
              <a:t>Data Pipeline: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74520" y="1883664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Kaggle dataset acquisition, image validation, dataset split strategy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5715000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25694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C3F7"/>
                </a:solidFill>
              </a:rPr>
              <a:t>Data Structures: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74520" y="2569464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k-NN Graph design (knn_graph.py), adjacency list, BFS traversal, graph save/load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3200400"/>
            <a:ext cx="5715000" cy="621792"/>
          </a:xfrm>
          <a:prstGeom prst="rect">
            <a:avLst/>
          </a:prstGeom>
          <a:solidFill>
            <a:srgbClr val="1A233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32552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C3F7"/>
                </a:solidFill>
              </a:rPr>
              <a:t>ML / Retrieval: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74520" y="3255264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ResNet18 embedder (embedder.py), build_embeddings.py, build_graph.py, graph search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5715000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39410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C3F7"/>
                </a:solidFill>
              </a:rPr>
              <a:t>Backend / API: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74520" y="3941064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/search/by_id, /graph_neighbors BFS endpoint, /image file serving, FastAPI routing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4572000"/>
            <a:ext cx="5715000" cy="621792"/>
          </a:xfrm>
          <a:prstGeom prst="rect">
            <a:avLst/>
          </a:prstGeom>
          <a:solidFill>
            <a:srgbClr val="1A233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048" y="46268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C3F7"/>
                </a:solidFill>
              </a:rPr>
              <a:t>UI / Frontend: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74520" y="4626864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Graph Visualization tab, NetworkX + Matplotlib graph, connected products table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5257800"/>
            <a:ext cx="5715000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" y="53126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C3F7"/>
                </a:solidFill>
              </a:rPr>
              <a:t>Evaluation: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74520" y="5312664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benchmark.py design, latency measurement (p50/p95/p99), multi-method comparison logic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5943600"/>
            <a:ext cx="5715000" cy="621792"/>
          </a:xfrm>
          <a:prstGeom prst="rect">
            <a:avLst/>
          </a:prstGeom>
          <a:solidFill>
            <a:srgbClr val="1A233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4048" y="59984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C3F7"/>
                </a:solidFill>
              </a:rPr>
              <a:t>MLOps: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74520" y="5998464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GitHub repo setup, SSH key configuration, port isolation, postmortem documentation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63640" y="1188720"/>
            <a:ext cx="5715000" cy="502920"/>
          </a:xfrm>
          <a:prstGeom prst="rect">
            <a:avLst/>
          </a:prstGeom>
          <a:solidFill>
            <a:srgbClr val="1A233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63640" y="1188720"/>
            <a:ext cx="73152" cy="502920"/>
          </a:xfrm>
          <a:prstGeom prst="rect">
            <a:avLst/>
          </a:prstGeom>
          <a:solidFill>
            <a:srgbClr val="F48FB1"/>
          </a:solidFill>
          <a:ln w="12700">
            <a:solidFill>
              <a:srgbClr val="F48F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28232" y="12344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8FB1"/>
                </a:solidFill>
              </a:rPr>
              <a:t>Akila Lourdes Miriyala Francis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28232" y="150876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</a:rPr>
              <a:t>github.com/AKilalours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63640" y="1828800"/>
            <a:ext cx="5715000" cy="621792"/>
          </a:xfrm>
          <a:prstGeom prst="rect">
            <a:avLst/>
          </a:prstGeom>
          <a:solidFill>
            <a:srgbClr val="1A233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73368" y="18836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8FB1"/>
                </a:solidFill>
              </a:rPr>
              <a:t>Data Pipeline: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863840" y="1883664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styles.csv metadata parsing and cleaning, product ID to filepath index mapping, embedding pipeline orchestration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63640" y="2514600"/>
            <a:ext cx="5715000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73368" y="25694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8FB1"/>
                </a:solidFill>
              </a:rPr>
              <a:t>Data Structures: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863840" y="2569464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Hash Table (hash_index.py), Nested Hash Table (color_index.py), Min-Heap ranker (heap_ranker.py), Searcher unified interface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63640" y="3200400"/>
            <a:ext cx="5715000" cy="621792"/>
          </a:xfrm>
          <a:prstGeom prst="rect">
            <a:avLst/>
          </a:prstGeom>
          <a:solidFill>
            <a:srgbClr val="1A233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73368" y="32552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8FB1"/>
                </a:solidFill>
              </a:rPr>
              <a:t>ML / Retrieval: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863840" y="3255264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FAISS IVF index (faiss_index.py), build_faiss.py, baseline brute-force cosine search, L2 normalization strategy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63640" y="3886200"/>
            <a:ext cx="5715000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73368" y="39410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8FB1"/>
                </a:solidFill>
              </a:rPr>
              <a:t>Backend / API: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863840" y="3941064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/search/upload, /benchmark, /categories + /colors endpoints, CORS + middleware setup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63640" y="4572000"/>
            <a:ext cx="5715000" cy="621792"/>
          </a:xfrm>
          <a:prstGeom prst="rect">
            <a:avLst/>
          </a:prstGeom>
          <a:solidFill>
            <a:srgbClr val="1A233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373368" y="46268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8FB1"/>
                </a:solidFill>
              </a:rPr>
              <a:t>UI / Frontend: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863840" y="4626864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Search tab (upload + product ID modes), Benchmark Charts tab, live latency + recall bar charts, score progress bars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263640" y="5257800"/>
            <a:ext cx="5715000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373368" y="53126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8FB1"/>
                </a:solidFill>
              </a:rPr>
              <a:t>Evaluation: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863840" y="5312664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Recall@k metric implementation, results CSV export, interpretation and documentation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63640" y="5943600"/>
            <a:ext cx="5715000" cy="621792"/>
          </a:xfrm>
          <a:prstGeom prst="rect">
            <a:avLst/>
          </a:prstGeom>
          <a:solidFill>
            <a:srgbClr val="1A233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373368" y="59984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8FB1"/>
                </a:solidFill>
              </a:rPr>
              <a:t>MLOps: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63840" y="5998464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GitHub push from her Mac, KMP_DUPLICATE_LIB_OK fix discovery, README + submission docx authoring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FashionFinder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Key Takeaways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965960"/>
            <a:ext cx="5577840" cy="1508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73152" cy="15087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</a:rPr>
              <a:t>5 Data Structures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Each chosen for a specific role: Hash Tables cut search space, k-NN Graph enables scalable traversal, Min-Heap gives O(n log k) ranking, FAISS delivers sub-linear ANN.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577840" cy="1508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73152" cy="150876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20574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C784"/>
                </a:solidFill>
              </a:rPr>
              <a:t>3 Retrieval Methods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Baseline (exact), Graph (scalable), FAISS (fastest) — measured and compared honestly with real latency and recall numbers.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5577840" cy="1508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73152" cy="1508760"/>
          </a:xfrm>
          <a:prstGeom prst="rect">
            <a:avLst/>
          </a:prstGeom>
          <a:solidFill>
            <a:srgbClr val="F48FB1"/>
          </a:solidFill>
          <a:ln w="12700">
            <a:solidFill>
              <a:srgbClr val="F48F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8FB1"/>
                </a:solidFill>
              </a:rPr>
              <a:t>Real Numbers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16052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FAISS 1.79ms median · Baseline 8.63ms · Recall@10=0.900 · 444,190 graph edges · 44,419 products · All benchmarked live.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5577840" cy="1508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3657600"/>
            <a:ext cx="73152" cy="150876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37490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E93D8"/>
                </a:solidFill>
              </a:rPr>
              <a:t>Production Discipline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416052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5 postmortems documented with root causes and fixes. No inflated metrics. Graph slower than baseline on small dataset — reported honestly.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5349240"/>
            <a:ext cx="1143000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541324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</a:rPr>
              <a:t>GitHub: github.com/AKilalours/FashionFinder  ·  github.com/AkilanManivannanak/FashionFinder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Akila Lourdes Miriyala Francis  ·  Akilan Manivannan  ·  Data Structures  ·  LIU Brooklyn  ·  April 2026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</TotalTime>
  <Words>2068</Words>
  <Application>Microsoft Macintosh PowerPoint</Application>
  <PresentationFormat>Widescreen</PresentationFormat>
  <Paragraphs>381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FashionFinder - Visual Search &amp; Image Retrieval System</dc:title>
  <dc:subject>PptxGenJS Presentation</dc:subject>
  <dc:creator>Akila Lourdes Miriyala Francis &amp; Akilan Manivannan</dc:creator>
  <cp:lastModifiedBy>Akilan Manivannan</cp:lastModifiedBy>
  <cp:revision>3</cp:revision>
  <dcterms:created xsi:type="dcterms:W3CDTF">2026-04-26T04:44:35Z</dcterms:created>
  <dcterms:modified xsi:type="dcterms:W3CDTF">2026-04-26T18:41:20Z</dcterms:modified>
</cp:coreProperties>
</file>